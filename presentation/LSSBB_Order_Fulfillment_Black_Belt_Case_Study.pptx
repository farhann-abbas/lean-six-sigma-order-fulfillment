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" cy="429768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05156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Improving Customer Order Fulfillment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423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C8D7E6"/>
                </a:solidFill>
              </a:defRPr>
            </a:pPr>
            <a:r>
              <a:t>Lean Six Sigma Black Belt — DMAIC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24612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Customer Order Fulfillment | FMCG-style Supply Chain</a:t>
            </a:r>
          </a:p>
          <a:p>
            <a:pPr>
              <a:defRPr sz="1300">
                <a:solidFill>
                  <a:srgbClr val="B9C3CD"/>
                </a:solidFill>
              </a:defRPr>
            </a:pPr>
            <a:r>
              <a:t>Portfolio project using a synthetic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7150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AC8E1"/>
                </a:solidFill>
              </a:defRPr>
            </a:pPr>
            <a:r>
              <a:t>Define → Measure → Analyze → Improve →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4"/>
                </a:solidFill>
              </a:defRPr>
            </a:pPr>
            <a:r>
              <a:t>What the project set out to improve and what the analysis established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09960" cy="32004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0574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114300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49047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Overall fill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90.3%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325880"/>
            <a:ext cx="20574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97480" y="1325880"/>
            <a:ext cx="64008" cy="114300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62072" y="149047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Non-cancelled fill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182880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92.2%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325880"/>
            <a:ext cx="20574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46320" y="1325880"/>
            <a:ext cx="64008" cy="114300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0912" y="149047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Complete order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82880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87.8%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325880"/>
            <a:ext cx="20574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95160" y="1325880"/>
            <a:ext cx="64008" cy="1143000"/>
          </a:xfrm>
          <a:prstGeom prst="rect">
            <a:avLst/>
          </a:prstGeom>
          <a:solidFill>
            <a:srgbClr val="CD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59752" y="149047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Backorder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182880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5.2%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325880"/>
            <a:ext cx="205740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1325880"/>
            <a:ext cx="64008" cy="11430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8592" y="149047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Eligible shortage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82880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174,549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743200"/>
            <a:ext cx="34747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743200"/>
            <a:ext cx="347472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2889504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310128"/>
            <a:ext cx="315467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rPr lang="en-US" sz="1150" dirty="0">
                <a:solidFill>
                  <a:srgbClr val="23272A"/>
                </a:solidFill>
              </a:rPr>
              <a:t>Customer orders were not consistently fulfilled in full. The project established a baseline and investigated potential sources of fulfillment variation.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2743200"/>
            <a:ext cx="34747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60520" y="2743200"/>
            <a:ext cx="3474720" cy="64008"/>
          </a:xfrm>
          <a:prstGeom prst="rect">
            <a:avLst/>
          </a:prstGeom>
          <a:solidFill>
            <a:srgbClr val="2D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25112" y="2889504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3310128"/>
            <a:ext cx="315467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rPr lang="en-US" sz="1150" dirty="0">
                <a:solidFill>
                  <a:srgbClr val="23272A"/>
                </a:solidFill>
              </a:rPr>
              <a:t>The completed tests did not establish statistically significant associations for product category (p = 0.6179) or warehouse (p = 0.3786), or a statistically significant order-quantity distribution difference (p = 0.3611). Supplier-level rank correlation was very weak.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743200"/>
            <a:ext cx="34747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0" y="2743200"/>
            <a:ext cx="347472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36992" y="2889504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Outcome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6992" y="3310128"/>
            <a:ext cx="315467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rPr lang="en-US" sz="1150" dirty="0">
                <a:solidFill>
                  <a:srgbClr val="23272A"/>
                </a:solidFill>
              </a:rPr>
              <a:t>The project translated baseline observations and process risks into proposed pilot interventions, a corrected FMEA, a future-state process, KPI controls, and a reaction plan.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1101" y="5702310"/>
            <a:ext cx="1176315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4"/>
                </a:solidFill>
              </a:defRPr>
            </a:pPr>
            <a:r>
              <a:rPr dirty="0"/>
              <a:t>Evidence boundary: </a:t>
            </a:r>
            <a:r>
              <a:rPr lang="en-US" sz="1100" i="1" dirty="0">
                <a:solidFill>
                  <a:srgbClr val="647484"/>
                </a:solidFill>
              </a:rPr>
              <a:t>The dataset is synthetic. Descriptive patterns do not establish causal mechanisms, and the project does not claim realized post-improvement benefits or actual operational deployment.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0"/>
                </a:solidFill>
              </a:defRPr>
            </a:pPr>
            <a:r>
              <a:t>DEFINE — Project Charter &amp; CTQ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4"/>
                </a:solidFill>
              </a:defRPr>
            </a:pPr>
            <a:r>
              <a:t>Establish the problem, customer requirement, scope, and measurement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09960" cy="32004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39496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47218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Business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92807"/>
            <a:ext cx="5074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Customer order fulfillment is a critical service outcome. The project focuses on understanding variation in ordered-versus-shipped quantity and translating the evidence into process improvements.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5394960" cy="64008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47218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892807"/>
            <a:ext cx="5074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Customer demand is not consistently fulfilled in full, while the drivers of variation have not been statistically validated.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566160"/>
            <a:ext cx="5394960" cy="64008"/>
          </a:xfrm>
          <a:prstGeom prst="rect">
            <a:avLst/>
          </a:prstGeom>
          <a:solidFill>
            <a:srgbClr val="2D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12463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Primary CTQ / 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133087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Customer Quantity Fill Rate = Total Shipped Quantity ÷ Total Ordered Quantity × 100. The project retains both all-order and non-cancelled views.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6616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566160"/>
            <a:ext cx="539496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12463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Scope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133087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Customer Order Created → Order Processing → Inventory Availability Check → Allocation → Replenishment if Required → Fulfillment → Shipment → Customer Order Fulfilled/Unfulfilled.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0"/>
                </a:solidFill>
              </a:defRPr>
            </a:pPr>
            <a:r>
              <a:t>MEASURE — Baseline &amp; Measurement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4"/>
                </a:solidFill>
              </a:defRPr>
            </a:pPr>
            <a:r>
              <a:t>Operational definitions, data quality, and baseline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09960" cy="32004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2120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82B40"/>
                </a:solidFill>
              </a:defRPr>
            </a:pPr>
            <a:r>
              <a:t>Data quality</a:t>
            </a:r>
          </a:p>
          <a:p>
            <a:pPr>
              <a:spcAft>
                <a:spcPts val="700"/>
              </a:spcAft>
              <a:defRPr sz="1500">
                <a:solidFill>
                  <a:srgbClr val="23272A"/>
                </a:solidFill>
              </a:defRPr>
            </a:pPr>
            <a:r>
              <a:t>• 15,000 sales orders</a:t>
            </a:r>
          </a:p>
          <a:p>
            <a:pPr>
              <a:spcAft>
                <a:spcPts val="700"/>
              </a:spcAft>
              <a:defRPr sz="1500">
                <a:solidFill>
                  <a:srgbClr val="23272A"/>
                </a:solidFill>
              </a:defRPr>
            </a:pPr>
            <a:r>
              <a:t>• 5,000 purchase orders</a:t>
            </a:r>
          </a:p>
          <a:p>
            <a:pPr>
              <a:spcAft>
                <a:spcPts val="700"/>
              </a:spcAft>
              <a:defRPr sz="1500">
                <a:solidFill>
                  <a:srgbClr val="23272A"/>
                </a:solidFill>
              </a:defRPr>
            </a:pPr>
            <a:r>
              <a:t>• 16,425 inventory records</a:t>
            </a:r>
          </a:p>
          <a:p>
            <a:pPr>
              <a:spcAft>
                <a:spcPts val="700"/>
              </a:spcAft>
              <a:defRPr sz="1500">
                <a:solidFill>
                  <a:srgbClr val="23272A"/>
                </a:solidFill>
              </a:defRPr>
            </a:pPr>
            <a:r>
              <a:t>• 150 products, 25 suppliers, 5 warehouses</a:t>
            </a:r>
          </a:p>
          <a:p>
            <a:pPr>
              <a:spcAft>
                <a:spcPts val="700"/>
              </a:spcAft>
              <a:defRPr sz="1500">
                <a:solidFill>
                  <a:srgbClr val="23272A"/>
                </a:solidFill>
              </a:defRPr>
            </a:pPr>
            <a:r>
              <a:t>• No duplicate sales orders; no negative quantities; no shipped quantity above ordered quantity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25880"/>
            <a:ext cx="5440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80760" y="1325880"/>
            <a:ext cx="544068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5352" y="1472184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Measurement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1892807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Primary Y: Σ Shipped_Qty ÷ Σ Order_Qty × 100. Cancellations are reported separately; partial fulfillment and backorders are tracked as distinct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03320"/>
            <a:ext cx="2468880" cy="118872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3703320"/>
            <a:ext cx="64008" cy="118872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3867911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All-order fill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206240"/>
            <a:ext cx="2240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90.3%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3703320"/>
            <a:ext cx="2468880" cy="118872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46120" y="3703320"/>
            <a:ext cx="64008" cy="118872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10712" y="3867911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Non-cancelled fill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4206240"/>
            <a:ext cx="2240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92.2%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703320"/>
            <a:ext cx="2468880" cy="118872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97880" y="3703320"/>
            <a:ext cx="64008" cy="118872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62472" y="3867911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Complete order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4206240"/>
            <a:ext cx="2240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87.8%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3703320"/>
            <a:ext cx="2468880" cy="118872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49640" y="3703320"/>
            <a:ext cx="64008" cy="11887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14232" y="3867911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Eligible shortage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4206240"/>
            <a:ext cx="2240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174,549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578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B40"/>
                </a:solidFill>
              </a:defRPr>
            </a:pPr>
            <a:r>
              <a:t>Measurement lesson: the 90.3% and 92.2% figures are different views of the same process, driven by the documented treatment of cancelled orders.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0"/>
                </a:solidFill>
              </a:defRPr>
            </a:pPr>
            <a:r>
              <a:t>ANALYZE — Where is Variation Concentrated?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4"/>
                </a:solidFill>
              </a:defRPr>
            </a:pPr>
            <a:r>
              <a:t>Move from baseline performance to evidence-supported factors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09960" cy="32004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56616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47218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Order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92807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rPr dirty="0"/>
              <a:t>Delivered orders dominate the volume, while late, partially fulfilled, backorder, and cancelled outcomes represent distinct failure modes.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3566160" cy="64008"/>
          </a:xfrm>
          <a:prstGeom prst="rect">
            <a:avLst/>
          </a:prstGeom>
          <a:solidFill>
            <a:srgbClr val="2D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147218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Product/category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892807"/>
            <a:ext cx="32461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rgbClr val="23272A"/>
                </a:solidFill>
              </a:rPr>
              <a:t>Category-level performance varies descriptively, but the chi-square test did not identify a statistically significant association with complete-fulfillment status (p = 0.6179).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3566160" cy="64008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47218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Order quantity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793908"/>
            <a:ext cx="3246120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rgbClr val="23272A"/>
                </a:solidFill>
              </a:rPr>
              <a:t>The largest order-size band contributed the highest absolute shortage quantity (59,261 units), but its fill rate was approximately 92.57%. The Mann–Whitney test did not identify a statistically significant difference in order-quantity distributions between eligible complete and incomplete orders (p = 0.3611).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3566160" cy="64008"/>
          </a:xfrm>
          <a:prstGeom prst="rect">
            <a:avLst/>
          </a:prstGeom>
          <a:solidFill>
            <a:srgbClr val="64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62102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41648"/>
            <a:ext cx="324612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rPr lang="en-US" sz="1150" dirty="0">
                <a:solidFill>
                  <a:srgbClr val="23272A"/>
                </a:solidFill>
              </a:rPr>
              <a:t>The Minitab chi-square test did not identify a statistically significant association with complete-fulfillment status (p = 0.3786).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47472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3474720"/>
            <a:ext cx="3566160" cy="64008"/>
          </a:xfrm>
          <a:prstGeom prst="rect">
            <a:avLst/>
          </a:prstGeom>
          <a:solidFill>
            <a:srgbClr val="64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62272" y="362102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Supplier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041648"/>
            <a:ext cx="324612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rPr lang="en-US" sz="1150" dirty="0">
                <a:solidFill>
                  <a:srgbClr val="23272A"/>
                </a:solidFill>
              </a:rPr>
              <a:t>Supplier-level Spearman correlation was very weak (ρ = 0.057; reported 95% CI: −0.346 to 0.442). The available Minitab output does not report a p-value.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47472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3474720"/>
            <a:ext cx="3566160" cy="64008"/>
          </a:xfrm>
          <a:prstGeom prst="rect">
            <a:avLst/>
          </a:prstGeom>
          <a:solidFill>
            <a:srgbClr val="CD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11312" y="362102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Evidence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4041648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Inventory linkage was limited; allocation timestamps, workload/capacity, and standardized shortage reasons were unavailable.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439" y="5679482"/>
            <a:ext cx="1197956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B40"/>
                </a:solidFill>
              </a:defRPr>
            </a:pPr>
            <a:r>
              <a:rPr sz="1050" b="1" i="1" dirty="0">
                <a:solidFill>
                  <a:srgbClr val="647484"/>
                </a:solidFill>
              </a:rPr>
              <a:t>Conclusion: </a:t>
            </a:r>
            <a:r>
              <a:rPr lang="en-US" sz="1050" b="1" i="1" dirty="0">
                <a:solidFill>
                  <a:srgbClr val="647484"/>
                </a:solidFill>
              </a:rPr>
              <a:t>Treat order-size and category patterns as descriptive findings, not statistically established drivers. Evaluate selected pilot interventions and collect better operational data before making causal claims.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0"/>
                </a:solidFill>
              </a:defRPr>
            </a:pPr>
            <a:r>
              <a:t>Power BI — Diagnostic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797686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4"/>
                </a:solidFill>
              </a:defRPr>
            </a:pPr>
            <a:r>
              <a:rPr lang="en-US" sz="1100" dirty="0">
                <a:solidFill>
                  <a:srgbClr val="647484"/>
                </a:solidFill>
              </a:rPr>
              <a:t>Portfolio dashboard translating baseline performance and exploratory diagnostic findings into an evidence-aware management view.</a:t>
            </a:r>
          </a:p>
          <a:p>
            <a:pPr>
              <a:defRPr sz="1100">
                <a:solidFill>
                  <a:srgbClr val="647484"/>
                </a:solidFill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09960" cy="32004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083564"/>
            <a:ext cx="12191999" cy="5818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2168" y="6231636"/>
            <a:ext cx="7069564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4"/>
                </a:solidFill>
              </a:defRPr>
            </a:pPr>
            <a:r>
              <a:rPr lang="en-US" sz="950" dirty="0">
                <a:solidFill>
                  <a:srgbClr val="647484"/>
                </a:solidFill>
              </a:rPr>
              <a:t>Key visual message: Orders above 100 units contribute the highest absolute shortage quantity, while their fill rate is approximately 92.57%. </a:t>
            </a:r>
          </a:p>
          <a:p>
            <a:pPr>
              <a:defRPr sz="950">
                <a:solidFill>
                  <a:srgbClr val="647484"/>
                </a:solidFill>
              </a:defRPr>
            </a:pPr>
            <a:r>
              <a:rPr lang="en-US" sz="950" dirty="0">
                <a:solidFill>
                  <a:srgbClr val="647484"/>
                </a:solidFill>
              </a:rPr>
              <a:t>Category and order-size patterns are descriptive; the completed hypothesis tests did not establish statistically significant effects.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0"/>
                </a:solidFill>
              </a:defRPr>
            </a:pPr>
            <a:r>
              <a:t>IMPROVE — FMEA &amp; Prioritized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4943982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rPr lang="en-US" sz="1150" dirty="0">
                <a:solidFill>
                  <a:srgbClr val="23272A"/>
                </a:solidFill>
              </a:rPr>
              <a:t>Translate descriptive findings and process risks into practical pilot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09960" cy="32004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303520" cy="64008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472184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1. Order-size risk flag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92807"/>
            <a:ext cx="49834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rgbClr val="23272A"/>
                </a:solidFill>
              </a:rPr>
              <a:t>Pilot enhanced inventory availability and allocation review for selected high-quantity orders.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530352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843784"/>
            <a:ext cx="23011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rPr dirty="0"/>
              <a:t>2. </a:t>
            </a:r>
            <a:r>
              <a:rPr lang="en-US" sz="1400" b="1" dirty="0">
                <a:solidFill>
                  <a:srgbClr val="182B40"/>
                </a:solidFill>
              </a:rPr>
              <a:t>Category-level monitoring</a:t>
            </a:r>
          </a:p>
          <a:p>
            <a:pPr>
              <a:defRPr sz="1400" b="1">
                <a:solidFill>
                  <a:srgbClr val="182B40"/>
                </a:solidFill>
              </a:defRPr>
            </a:pP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13232" y="3264408"/>
            <a:ext cx="49834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rgbClr val="23272A"/>
                </a:solidFill>
              </a:rPr>
              <a:t>Monitor category-level patterns without treating category as a proven root cause.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069080"/>
            <a:ext cx="5303520" cy="64008"/>
          </a:xfrm>
          <a:prstGeom prst="rect">
            <a:avLst/>
          </a:prstGeom>
          <a:solidFill>
            <a:srgbClr val="2D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4215384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3. Inventory-at-order measurement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636008"/>
            <a:ext cx="4983480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rgbClr val="23272A"/>
                </a:solidFill>
              </a:rPr>
              <a:t>Capture inventory position at order time to strengthen future root-cause analysis</a:t>
            </a:r>
            <a:r>
              <a:rPr lang="en-US"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3258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325880"/>
            <a:ext cx="5303520" cy="64008"/>
          </a:xfrm>
          <a:prstGeom prst="rect">
            <a:avLst/>
          </a:prstGeom>
          <a:solidFill>
            <a:srgbClr val="CD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1472184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rPr dirty="0"/>
              <a:t>4. Standardized shortage reason codes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1892807"/>
            <a:ext cx="4983480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rgbClr val="23272A"/>
                </a:solidFill>
              </a:rPr>
              <a:t>Capture why an order becomes short so future analysis can distinguish potential mechanisms</a:t>
            </a:r>
            <a:r>
              <a:rPr lang="en-US" dirty="0"/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6974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2697480"/>
            <a:ext cx="5303520" cy="64008"/>
          </a:xfrm>
          <a:prstGeom prst="rect">
            <a:avLst/>
          </a:prstGeom>
          <a:solidFill>
            <a:srgbClr val="64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2843784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5. Exception-based allocation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264408"/>
            <a:ext cx="49834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rPr lang="en-US" sz="1150" dirty="0">
                <a:solidFill>
                  <a:srgbClr val="23272A"/>
                </a:solidFill>
              </a:rPr>
              <a:t>Pilot a defined exception pathway and evaluate outcomes against an appropriate baseline.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0690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26480" y="4069080"/>
            <a:ext cx="5303520" cy="64008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2" y="4120132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rPr dirty="0"/>
              <a:t>FMEA prioritization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4355147"/>
            <a:ext cx="4983480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rPr lang="en-US" sz="1150" dirty="0">
                <a:solidFill>
                  <a:srgbClr val="23272A"/>
                </a:solidFill>
              </a:rPr>
              <a:t>Highest RPN: large customer order not fully fulfilled (256), followed by category-specific shortage risk (224).</a:t>
            </a:r>
          </a:p>
          <a:p>
            <a:pPr>
              <a:defRPr sz="1150">
                <a:solidFill>
                  <a:srgbClr val="23272A"/>
                </a:solidFill>
              </a:defRPr>
            </a:pPr>
            <a:endParaRPr lang="en-US" sz="1150" dirty="0">
              <a:solidFill>
                <a:srgbClr val="23272A"/>
              </a:solidFill>
            </a:endParaRPr>
          </a:p>
          <a:p>
            <a:pPr>
              <a:defRPr sz="1150">
                <a:solidFill>
                  <a:srgbClr val="23272A"/>
                </a:solidFill>
              </a:defRPr>
            </a:pPr>
            <a:r>
              <a:rPr lang="en-US" sz="1150" dirty="0">
                <a:solidFill>
                  <a:srgbClr val="23272A"/>
                </a:solidFill>
              </a:rPr>
              <a:t>RPN values use provisional Detection ratings and support risk prioritization; they do not establish proven root causes.</a:t>
            </a:r>
          </a:p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555472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B40"/>
                </a:solidFill>
              </a:defRPr>
            </a:pPr>
            <a:r>
              <a:rPr lang="en-US" sz="1050" b="1" i="1" dirty="0">
                <a:solidFill>
                  <a:srgbClr val="647484"/>
                </a:solidFill>
              </a:rPr>
              <a:t>Scenario impact estimates are illustrative assumptions, not measured or realized improvements.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0"/>
                </a:solidFill>
              </a:defRPr>
            </a:pPr>
            <a:r>
              <a:t>IMPROVE — Future-State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4"/>
                </a:solidFill>
              </a:defRPr>
            </a:pPr>
            <a:r>
              <a:t>Embed the prioritized controls into the fulfillment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09960" cy="32004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51460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655063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756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Order Created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251460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655063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0756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Risk Screening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251460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1655063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0756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Inventory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087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508760"/>
            <a:ext cx="251460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08592" y="1655063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0756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Allocation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3375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337560"/>
            <a:ext cx="251460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348386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390448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Replenishment 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3375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83280" y="3337560"/>
            <a:ext cx="251460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47872" y="348386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90448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Fulfillment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3375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3337560"/>
            <a:ext cx="2514600" cy="64008"/>
          </a:xfrm>
          <a:prstGeom prst="rect">
            <a:avLst/>
          </a:prstGeom>
          <a:solidFill>
            <a:srgbClr val="2D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1" y="348386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1" y="390448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Exception Capture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3375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44000" y="3337560"/>
            <a:ext cx="2514600" cy="64008"/>
          </a:xfrm>
          <a:prstGeom prst="rect">
            <a:avLst/>
          </a:prstGeom>
          <a:solidFill>
            <a:srgbClr val="2D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08592" y="348386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390448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Control Feedback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34924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B40"/>
                </a:solidFill>
              </a:defRPr>
            </a:pPr>
            <a:r>
              <a:t>Design principle</a:t>
            </a:r>
          </a:p>
          <a:p>
            <a:pPr>
              <a:defRPr sz="1200">
                <a:solidFill>
                  <a:srgbClr val="23272A"/>
                </a:solidFill>
              </a:defRPr>
            </a:pPr>
            <a:r>
              <a:t>Risk is identified before allocation, exceptions are captured at the point of failure, and control feedback closes the DMAIC loop.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0"/>
                </a:solidFill>
              </a:defRPr>
            </a:pPr>
            <a:r>
              <a:t>CONTROL — KPI Monitoring &amp;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732123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4"/>
                </a:solidFill>
              </a:defRPr>
            </a:pPr>
            <a:r>
              <a:rPr lang="en-US" sz="1100" dirty="0">
                <a:solidFill>
                  <a:srgbClr val="647484"/>
                </a:solidFill>
              </a:rPr>
              <a:t>Proposed monitoring and reaction framework using synthetic baseline data; production stability has not been demonstrated.</a:t>
            </a:r>
          </a:p>
          <a:p>
            <a:pPr>
              <a:defRPr sz="1100">
                <a:solidFill>
                  <a:srgbClr val="647484"/>
                </a:solidFill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09960" cy="32004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011680" cy="109728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109728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49047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Fill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1783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90.3%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325880"/>
            <a:ext cx="2011680" cy="109728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97480" y="1325880"/>
            <a:ext cx="64008" cy="1097280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62072" y="149047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Complete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1828800"/>
            <a:ext cx="1783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87.8%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325880"/>
            <a:ext cx="2011680" cy="109728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46320" y="1325880"/>
            <a:ext cx="64008" cy="1097280"/>
          </a:xfrm>
          <a:prstGeom prst="rect">
            <a:avLst/>
          </a:prstGeom>
          <a:solidFill>
            <a:srgbClr val="CD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0912" y="149047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Backorder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828800"/>
            <a:ext cx="1783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5.2%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325880"/>
            <a:ext cx="2011680" cy="109728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95160" y="1325880"/>
            <a:ext cx="64008" cy="1097280"/>
          </a:xfrm>
          <a:prstGeom prst="rect">
            <a:avLst/>
          </a:prstGeom>
          <a:solidFill>
            <a:srgbClr val="CD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59752" y="149047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Partial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1828800"/>
            <a:ext cx="1783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6.8%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325880"/>
            <a:ext cx="2011680" cy="109728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1325880"/>
            <a:ext cx="64008" cy="109728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8592" y="149047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4"/>
                </a:solidFill>
              </a:defRPr>
            </a:pPr>
            <a:r>
              <a:t>Eligible shortage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828800"/>
            <a:ext cx="1783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B40"/>
                </a:solidFill>
              </a:defRPr>
            </a:pPr>
            <a:r>
              <a:t>175K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743200"/>
            <a:ext cx="5349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743200"/>
            <a:ext cx="5349240" cy="64008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288950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Reaction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310128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Fill-rate deterioration → review affected order-size bands, category performance, and shortage patterns.</a:t>
            </a:r>
            <a:br/>
            <a:br/>
            <a:r>
              <a:t>Backorder increase → review inventory availability and replenishment.</a:t>
            </a:r>
            <a:br/>
            <a:br/>
            <a:r>
              <a:t>Partial increase → review allocation and fulfillment exceptions.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743200"/>
            <a:ext cx="5349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26480" y="2743200"/>
            <a:ext cx="5349240" cy="64008"/>
          </a:xfrm>
          <a:prstGeom prst="rect">
            <a:avLst/>
          </a:prstGeom>
          <a:solidFill>
            <a:srgbClr val="2D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91072" y="288950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Control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3310128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Monitor → weekly fulfillment KPIs</a:t>
            </a:r>
            <a:br/>
            <a:r>
              <a:t>Review → exception trends and deterioration</a:t>
            </a:r>
            <a:br/>
            <a:r>
              <a:t>Investigate → order-size/category patterns and inventory availability</a:t>
            </a:r>
            <a:br/>
            <a:r>
              <a:t>React → defined exception response</a:t>
            </a:r>
            <a:br/>
            <a:r>
              <a:t>Standardize → KPI definitions, shortage coding, inventory snapshot completeness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49240"/>
            <a:ext cx="822693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4"/>
                </a:solidFill>
              </a:defRPr>
            </a:pPr>
            <a:r>
              <a:rPr lang="en-US" sz="1100" i="1" dirty="0">
                <a:solidFill>
                  <a:srgbClr val="647484"/>
                </a:solidFill>
              </a:rPr>
              <a:t>SPC note: The weekly trend is synthetic baseline data. Production control limits and post-improvement stability have not been established.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0"/>
                </a:solidFill>
              </a:defRPr>
            </a:pPr>
            <a:r>
              <a:t>Power BI — Control &amp;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4"/>
                </a:solidFill>
              </a:defRPr>
            </a:pPr>
            <a:r>
              <a:t>From KPI monitoring to defined operational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09960" cy="32004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(20261007-11185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52144"/>
            <a:ext cx="11201400" cy="57574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636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4"/>
                </a:solidFill>
              </a:defRPr>
            </a:pPr>
            <a:r>
              <a:t>The dashboard operationalizes the proposed control plan while keeping evidence and causality boundaries explicit.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BLACK BELT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475488" cy="475488"/>
          </a:xfrm>
          <a:prstGeom prst="ellipse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63624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90472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Define the CTQ before analyzing causes.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77439"/>
            <a:ext cx="475488" cy="475488"/>
          </a:xfrm>
          <a:prstGeom prst="ellipse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432303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59151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Lock operational definitions and separate cancellations, backorders, and partial fulfillment.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46120"/>
            <a:ext cx="475488" cy="475488"/>
          </a:xfrm>
          <a:prstGeom prst="ellipse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00984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27832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Use statistical evidence to distinguish supported factors from hypotheses.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14800"/>
            <a:ext cx="475488" cy="475488"/>
          </a:xfrm>
          <a:prstGeom prst="ellipse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169663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96512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Translate evidence into FMEA-prioritized actions rather than generic recommendations.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983479"/>
            <a:ext cx="475488" cy="475488"/>
          </a:xfrm>
          <a:prstGeom prst="ellipse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038343"/>
            <a:ext cx="475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65192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Design the control system around measurable KPIs and explicit reaction logic.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C3D7"/>
                </a:solidFill>
              </a:defRPr>
            </a:pPr>
            <a:r>
              <a:t>Portfolio evidence: DMAIC artifacts + analytical dataset + Power BI control dashboard + improvement/control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B40"/>
                </a:solidFill>
              </a:defRPr>
            </a:pPr>
            <a:r>
              <a:t>Evidence Boundary &amp; Portfolio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4"/>
                </a:solidFill>
              </a:defRPr>
            </a:pPr>
            <a:r>
              <a:t>How to present the project accurately in interviews and on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09960" cy="32004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394960" cy="6400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47218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92807"/>
            <a:ext cx="5074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Synthetic FMCG-style supply chain data covering sales orders, purchase orders, inventory, products, suppliers, customers, and warehouses. It is used for portfolio demonstration and analytical practice.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5394960" cy="64008"/>
          </a:xfrm>
          <a:prstGeom prst="rect">
            <a:avLst/>
          </a:prstGeom>
          <a:solidFill>
            <a:srgbClr val="2D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47218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What is demonstrated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892807"/>
            <a:ext cx="5074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t>DMAIC structure, operational measurement, data-quality review, statistical analysis, FMEA, improvement prioritization, control planning, and Power BI dashboard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5394960" cy="64008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5818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What is not claimed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178808"/>
            <a:ext cx="5074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rPr dirty="0"/>
              <a:t>No actual employer performance is claimed. No post-improvement benefit is claimed. Causal mechanisms are not asserted where the available data cannot support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1188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611880"/>
            <a:ext cx="5394960" cy="64008"/>
          </a:xfrm>
          <a:prstGeom prst="rect">
            <a:avLst/>
          </a:prstGeom>
          <a:solidFill>
            <a:srgbClr val="CD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5818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0"/>
                </a:solidFill>
              </a:defRPr>
            </a:pPr>
            <a:r>
              <a:t>Interview positioning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178808"/>
            <a:ext cx="507492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72A"/>
                </a:solidFill>
              </a:defRPr>
            </a:pPr>
            <a:r>
              <a:rPr lang="en-US" sz="1150" dirty="0">
                <a:solidFill>
                  <a:srgbClr val="23272A"/>
                </a:solidFill>
              </a:rPr>
              <a:t>Present this as a synthetic-data Lean Six Sigma Black Belt portfolio case study demonstrating DMAIC application, statistical interpretation, FMEA-based prioritization, and control-system design. Be explicit that proposed interventions were not validated through live operational implementation and that no realized improvement benefits are claimed.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4"/>
                </a:solidFill>
              </a:defRPr>
            </a:pPr>
            <a:r>
              <a:t>Lean Six Sigma Black Belt Portfolio | Synthetic FMCG dataset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1502</Words>
  <Application>Microsoft Office PowerPoint</Application>
  <PresentationFormat>Widescreen</PresentationFormat>
  <Paragraphs>163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FARHAN ABBAS RIZVI</cp:lastModifiedBy>
  <cp:revision>12</cp:revision>
  <dcterms:created xsi:type="dcterms:W3CDTF">2013-01-27T09:14:16Z</dcterms:created>
  <dcterms:modified xsi:type="dcterms:W3CDTF">2026-10-13T01:23:30Z</dcterms:modified>
  <cp:category/>
</cp:coreProperties>
</file>